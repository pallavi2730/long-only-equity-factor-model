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7053: Algorithmic Trading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 Equity Strategy: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 &amp; Momentum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Signal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B8CFEE"/>
          </a:solidFill>
          <a:ln w="12700">
            <a:solidFill>
              <a:srgbClr val="B8CF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971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Large-Cap · 60 Stocks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82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32826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93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5935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Reversal (40%) + 12-1 Month Momentum (60%)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044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9044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Rebalance · Equal-Weight · Long-Only · 15 bps TC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Pallavi Sodani  |  Professor Mehmet Sağlam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2834640" cy="39319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Inefficiency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560320" cy="18288"/>
          </a:xfrm>
          <a:prstGeom prst="rect">
            <a:avLst/>
          </a:prstGeom>
          <a:solidFill>
            <a:srgbClr val="B8CFEE"/>
          </a:solidFill>
          <a:ln w="12700">
            <a:solidFill>
              <a:srgbClr val="B8CF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overreaction (reversal) exploits investor herding &amp; liquidity effects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momentum captures persistent return patterns (Jegadeesh &amp; Titman 1993)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blend reduces single-signal drawdowns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896112"/>
            <a:ext cx="2834640" cy="39319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932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Construction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560320" cy="18288"/>
          </a:xfrm>
          <a:prstGeom prst="rect">
            <a:avLst/>
          </a:prstGeom>
          <a:solidFill>
            <a:srgbClr val="B8CFEE"/>
          </a:solidFill>
          <a:ln w="12700">
            <a:solidFill>
              <a:srgbClr val="B8CF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Reversal: Negative 5-day cumulative return (Jegadeesh 1990)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Momentum: 12-1 month past returns (skip most recent month)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40% Reversal + 60% Momentum, z-score normalized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896112"/>
            <a:ext cx="2834640" cy="39319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932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Rules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371600"/>
            <a:ext cx="2560320" cy="18288"/>
          </a:xfrm>
          <a:prstGeom prst="rect">
            <a:avLst/>
          </a:prstGeom>
          <a:solidFill>
            <a:srgbClr val="B8CFEE"/>
          </a:solidFill>
          <a:ln w="12700">
            <a:solidFill>
              <a:srgbClr val="B8CF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decile (10%) = 6 stocks, equal-weighted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rebalance on last trading day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set t+1 — no look-ahead bias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bps one-way transaction cost applied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a Glance (In-Sample Net)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828800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817.6%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27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960120"/>
            <a:ext cx="1828800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527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960120"/>
            <a:ext cx="1828800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1527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960120"/>
            <a:ext cx="1828800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1527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82712" y="960120"/>
            <a:ext cx="10332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74152" y="1005840"/>
            <a:ext cx="85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074152" y="1527048"/>
            <a:ext cx="850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084832"/>
            <a:ext cx="1828800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130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Volatility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2084832"/>
            <a:ext cx="1828800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23160" y="2130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423160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TC Drag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2084832"/>
            <a:ext cx="1828800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0" y="2130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+8.34%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389120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Return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084832"/>
            <a:ext cx="1828800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2130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+6.25%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55080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Jensen's Alpha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2712" y="2084832"/>
            <a:ext cx="10332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74152" y="2130552"/>
            <a:ext cx="85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074152" y="2651760"/>
            <a:ext cx="850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218688"/>
            <a:ext cx="8650224" cy="1664208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Returns (Net):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+37.43%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52728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52728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+41.78%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52728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002536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02536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+2.07%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002536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52344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52344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+12.43%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752344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02152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02152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+27.01%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502152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251960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51960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+6.27%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251960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01768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01768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-1.38%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001768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51576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51576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+36.10%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751576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01384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501384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+55.74%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501384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51192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251192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+22.71%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251192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01000" y="35935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001000" y="385876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+18.53%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001000" y="416052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Returns vs SPY Benchmark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841248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206240"/>
            <a:ext cx="2651760" cy="7315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4297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(Before TC)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1007.7%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4206240"/>
            <a:ext cx="2651760" cy="7315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83280" y="4297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(After 15 bps TC)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817.6%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4206240"/>
            <a:ext cx="2651760" cy="7315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4297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Benchmark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6364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Return: 15.38%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 vs SPY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512064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68680"/>
            <a:ext cx="3291840" cy="402336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Decomposition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0" y="1261872"/>
            <a:ext cx="3017520" cy="18288"/>
          </a:xfrm>
          <a:prstGeom prst="rect">
            <a:avLst/>
          </a:prstGeom>
          <a:solidFill>
            <a:srgbClr val="B8CFEE"/>
          </a:solidFill>
          <a:ln w="12700">
            <a:solidFill>
              <a:srgbClr val="B8CF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Jensen's Alpha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1371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+6.25%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1500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0.679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1500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p-value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2880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 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Ratio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9520" y="3383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715000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8952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14.83% ann.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71500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outperforms SPY by +8.34% ann.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alpha (p &lt; 0.001)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Analysis &amp; Rolling Sharpe Ratio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Profile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841248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12-Month Sharpe Ratio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0"/>
            <a:ext cx="841248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Returns &amp; Return Distribution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4846320" cy="2286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22960"/>
            <a:ext cx="3840480" cy="22860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54680"/>
            <a:ext cx="85953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Return Heatmap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intensity shows monthly net return · Positive months dominate across the full 2016–2026 period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Turnover, Transaction Costs &amp; Active Return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Turnover &amp; TC Drag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841248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Active Return vs SPY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0"/>
            <a:ext cx="841248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Out-of-Sample Validation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3200400" cy="402336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326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walk-forward windows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36 months minimum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6-month non-overlapping windows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total OOS windows (2018–2025)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data leakage by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OOS 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36576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15.23%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050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40050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5254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43525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-35.43%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0001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470001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156.95%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868680"/>
            <a:ext cx="5212080" cy="402336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0" y="932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Window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69080" y="1325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1325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1325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162763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9080" y="1627632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 → 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162763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+6.3%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0" y="1627632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89520" y="162763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94760" y="1801368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9080" y="180136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 → 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180136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-22.7%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0840" y="180136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0" y="180136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1975104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9080" y="1975104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 → 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1975104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20840" y="1975104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89520" y="197510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94760" y="2148840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69080" y="2148840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2019-08 → 12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2148840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+7.3%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20840" y="2148840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89520" y="2148840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94760" y="232257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69080" y="2322576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 → 06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23560" y="2322576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+13.5%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20840" y="2322576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89520" y="2322576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94760" y="249631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69080" y="2496312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2020-08 → 12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23560" y="249631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+18.8%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20840" y="2496312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89520" y="249631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94760" y="2670048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69080" y="267004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 → 06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23560" y="267004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+22.2%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20840" y="267004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89520" y="267004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794760" y="2843784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069080" y="2843784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 → 12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23560" y="2843784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720840" y="2843784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89520" y="284378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794760" y="3017520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069080" y="3017520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 → 06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623560" y="3017520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-37.9%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720840" y="3017520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589520" y="3017520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shock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794760" y="319125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069080" y="3191256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2022-08 → 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623560" y="3191256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+20.3%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720840" y="3191256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589520" y="3191256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shock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794760" y="336499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069080" y="3364992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 → 06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623560" y="336499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+55.1%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720840" y="3364992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589520" y="336499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794760" y="3538728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069080" y="353872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 → 12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623560" y="353872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+28.6%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720840" y="353872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589520" y="353872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3794760" y="3712464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069080" y="3712464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2024-02 → 06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623560" y="3712464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+79.1%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720840" y="3712464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3.47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589520" y="371246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794760" y="3886200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069080" y="3886200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 → 12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623560" y="3886200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+51.3%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720840" y="3886200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2.02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589520" y="3886200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794760" y="405993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069080" y="4059936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 → 06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623560" y="4059936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+13.9%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720840" y="4059936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589520" y="4059936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794760" y="423367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069080" y="4233672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 → 12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5623560" y="4233672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+36.5%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720840" y="4233672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589520" y="423367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Robustness &amp; BH-FDR Correction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41248"/>
            <a:ext cx="8412480" cy="1920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2880360"/>
            <a:ext cx="4160520" cy="205740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BH-FDR Results (α = 10%)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337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stocks tested individually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0/60 significant (reversal)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0/60 significant (momentum)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p-value: 0.49 — expected for cross-sectional signal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alpha is a ranking phenomenon, not individual stock prediction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2880360"/>
            <a:ext cx="4206240" cy="205740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Sub-Period Robustness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3337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3337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03720" y="3337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09560" y="3337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9204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(2015–2019)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9788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22.81%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0372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1.119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0956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-24.4%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40050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COVID/Post (2020–2026)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40050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25.27%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03720" y="40050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09560" y="40050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-31.4%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Weight Sensitivity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4864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868680"/>
            <a:ext cx="2926080" cy="228600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13716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stable (0.90–1.09) across all weight combos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40/60 is conservative choice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momentum (0/100) viable at 0.994 Sharpe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is not overfitted to weight choice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310128"/>
            <a:ext cx="8595360" cy="16459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/ Momentum Weight Sweep: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61872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10/90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20824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20/80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79776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30/70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38728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40/60★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97680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56632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60/40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15584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74536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33488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90/10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92440" y="3703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25.45%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261872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23.96%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020824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26.35%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79776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27.70%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38728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24.28%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97680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23.32%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56632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26.45%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815584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24.15%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74536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23.07%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333488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22.91%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92440" y="3977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22.39%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920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261872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020824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779776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1.089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538728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297680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56632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15584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574536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333488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0.939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092440" y="4251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Performance &amp; Risk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148840" cy="347472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1965960" cy="347472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9192" y="91440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Gross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1965960" cy="347472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91440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Net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914400"/>
            <a:ext cx="2240280" cy="347472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9144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(Walk-Forward)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298448"/>
            <a:ext cx="214884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350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29844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13350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2016-02-01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3350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2016-02-01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1298448"/>
            <a:ext cx="224028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3350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2018-02-01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618488"/>
            <a:ext cx="214884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6550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161848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16550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61848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6550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1618488"/>
            <a:ext cx="224028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165506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2025-12-31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1938528"/>
            <a:ext cx="214884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19751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06040" y="193852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197510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1007.74%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193852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197510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817.63%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1938528"/>
            <a:ext cx="224028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19751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156.95%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258568"/>
            <a:ext cx="214884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22951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06040" y="225856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9192" y="22951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26.59%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25856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2951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24.28%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2258568"/>
            <a:ext cx="224028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93992" y="229514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15.23%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578608"/>
            <a:ext cx="214884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26151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Volatility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06040" y="257860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9192" y="26151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25.57%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257860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26151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25.57%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20840" y="2578608"/>
            <a:ext cx="224028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93992" y="26151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27.67%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2898648"/>
            <a:ext cx="214884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29352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606040" y="289864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79192" y="29352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289864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29352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20840" y="2898648"/>
            <a:ext cx="224028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93992" y="29352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3218688"/>
            <a:ext cx="214884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32552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606040" y="321868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79192" y="32552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1.397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663440" y="321868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32552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1.275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720840" y="3218688"/>
            <a:ext cx="224028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93992" y="325526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65760" y="3538728"/>
            <a:ext cx="214884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" y="35753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606040" y="353872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79192" y="357530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-31.33%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63440" y="353872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36592" y="357530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-31.43%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720840" y="3538728"/>
            <a:ext cx="224028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93992" y="35753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-35.43%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65760" y="3858768"/>
            <a:ext cx="214884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" y="38953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TC Drag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606040" y="385876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79192" y="38953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663440" y="385876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36592" y="38953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1.85%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720840" y="3858768"/>
            <a:ext cx="224028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93992" y="389534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65760" y="4178808"/>
            <a:ext cx="214884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" y="42153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Jensen's Alpha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606040" y="417880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79192" y="42153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663440" y="4178808"/>
            <a:ext cx="196596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36592" y="42153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+6.25%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720840" y="4178808"/>
            <a:ext cx="224028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93992" y="4215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65760" y="4498848"/>
            <a:ext cx="214884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8912" y="45354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2606040" y="449884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79192" y="45354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663440" y="4498848"/>
            <a:ext cx="196596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36592" y="45354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1.180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720840" y="4498848"/>
            <a:ext cx="224028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B8CF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93992" y="45354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39319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Framework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2468880" cy="18288"/>
          </a:xfrm>
          <a:prstGeom prst="rect">
            <a:avLst/>
          </a:prstGeom>
          <a:solidFill>
            <a:srgbClr val="B8CFEE"/>
          </a:solidFill>
          <a:ln w="12700">
            <a:solidFill>
              <a:srgbClr val="B8CF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caps single-stock concentration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Top-decile selection limits to 6 stocks (16.7% each)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rebalance reduces stale signal exposure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capped at -31.4% historically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of 1.18 — moderate market exposure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43200" cy="39319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389888"/>
            <a:ext cx="2468880" cy="18288"/>
          </a:xfrm>
          <a:prstGeom prst="rect">
            <a:avLst/>
          </a:prstGeom>
          <a:solidFill>
            <a:srgbClr val="B8CFEE"/>
          </a:solidFill>
          <a:ln w="12700">
            <a:solidFill>
              <a:srgbClr val="B8CF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81328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computed on last trading day of month 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entered on t+1 — no look-ahead bias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data: split &amp; dividend adjusted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bps one-way TC = 1.85% annual drag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avg turnover tracked and reported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651760" cy="3931920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389888"/>
            <a:ext cx="2377440" cy="18288"/>
          </a:xfrm>
          <a:prstGeom prst="rect">
            <a:avLst/>
          </a:prstGeom>
          <a:solidFill>
            <a:srgbClr val="B8CFEE"/>
          </a:solidFill>
          <a:ln w="12700">
            <a:solidFill>
              <a:srgbClr val="B8CF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481328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bias: only current S&amp;P constituents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universe (60 stocks) — scale with caution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concentration (6 stocks) = idiosyncratic risk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Rate-hike environments adverse (2022 window)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CRSP for production-grade backtest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Investment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04088"/>
            <a:ext cx="8229600" cy="228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713232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41248"/>
            <a:ext cx="73152" cy="713232"/>
          </a:xfrm>
          <a:prstGeom prst="rect">
            <a:avLst/>
          </a:prstGeom>
          <a:solidFill>
            <a:srgbClr val="0A7A45"/>
          </a:solidFill>
          <a:ln w="12700">
            <a:solidFill>
              <a:srgbClr val="0A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Returns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896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24.28% ann. net vs 15.38% SPY (+8.90% excess)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36776"/>
            <a:ext cx="8229600" cy="713232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36776"/>
            <a:ext cx="73152" cy="713232"/>
          </a:xfrm>
          <a:prstGeom prst="rect">
            <a:avLst/>
          </a:prstGeom>
          <a:solidFill>
            <a:srgbClr val="0A7A45"/>
          </a:solidFill>
          <a:ln w="12700">
            <a:solidFill>
              <a:srgbClr val="0A7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Alpha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Jensen's alpha +6.25% p.a., statistically significant (p &lt; 0.001)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8229600" cy="713232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32304"/>
            <a:ext cx="73152" cy="71323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Validated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4871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returns in 10 of 16 non-overlapping walk-forward windows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27832"/>
            <a:ext cx="8229600" cy="713232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27832"/>
            <a:ext cx="73152" cy="71323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82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Signal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328269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0.90–1.09 across all weight combinations — no overfitting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713232"/>
          </a:xfrm>
          <a:prstGeom prst="rect">
            <a:avLst/>
          </a:prstGeom>
          <a:solidFill>
            <a:srgbClr val="EEF3FB"/>
          </a:solidFill>
          <a:ln w="12700">
            <a:solidFill>
              <a:srgbClr val="B8CF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23360"/>
            <a:ext cx="73152" cy="713232"/>
          </a:xfrm>
          <a:prstGeom prst="rect">
            <a:avLst/>
          </a:prstGeom>
          <a:solidFill>
            <a:srgbClr val="5A7AA8"/>
          </a:solidFill>
          <a:ln w="12700">
            <a:solidFill>
              <a:srgbClr val="5A7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407822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-31.4%, Sharpe 0.95, Sortino 1.28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Pallavi Sodani  |  FIN 7053: Algorithmic Trading  |  Prof. Mehmet Sağlam  |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 7053: Algorithmic Trading Final Project</dc:title>
  <dc:subject>PptxGenJS Presentation</dc:subject>
  <dc:creator>Pallavi Sodani</dc:creator>
  <cp:lastModifiedBy>Pallavi Sodani</cp:lastModifiedBy>
  <cp:revision>1</cp:revision>
  <dcterms:created xsi:type="dcterms:W3CDTF">2026-04-22T21:43:15Z</dcterms:created>
  <dcterms:modified xsi:type="dcterms:W3CDTF">2026-04-22T21:43:15Z</dcterms:modified>
</cp:coreProperties>
</file>